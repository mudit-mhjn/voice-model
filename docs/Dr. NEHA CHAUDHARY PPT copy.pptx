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0"/>
  </p:notesMasterIdLst>
  <p:handoutMasterIdLst>
    <p:handoutMasterId r:id="rId21"/>
  </p:handoutMasterIdLst>
  <p:sldIdLst>
    <p:sldId id="256" r:id="rId2"/>
    <p:sldId id="282" r:id="rId3"/>
    <p:sldId id="319" r:id="rId4"/>
    <p:sldId id="320" r:id="rId5"/>
    <p:sldId id="277" r:id="rId6"/>
    <p:sldId id="327" r:id="rId7"/>
    <p:sldId id="284" r:id="rId8"/>
    <p:sldId id="267" r:id="rId9"/>
    <p:sldId id="332" r:id="rId10"/>
    <p:sldId id="324" r:id="rId11"/>
    <p:sldId id="328" r:id="rId12"/>
    <p:sldId id="333" r:id="rId13"/>
    <p:sldId id="286" r:id="rId14"/>
    <p:sldId id="329" r:id="rId15"/>
    <p:sldId id="334" r:id="rId16"/>
    <p:sldId id="330" r:id="rId17"/>
    <p:sldId id="331" r:id="rId18"/>
    <p:sldId id="273" r:id="rId19"/>
  </p:sldIdLst>
  <p:sldSz cx="12188825" cy="6858000"/>
  <p:notesSz cx="7010400" cy="9296400"/>
  <p:defaultTextStyle>
    <a:defPPr>
      <a:defRPr lang="en-US"/>
    </a:defPPr>
    <a:lvl1pPr marL="0" algn="l" defTabSz="1088197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44098" algn="l" defTabSz="1088197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88197" algn="l" defTabSz="1088197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32295" algn="l" defTabSz="1088197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76394" algn="l" defTabSz="1088197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720491" algn="l" defTabSz="1088197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4590" algn="l" defTabSz="1088197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08687" algn="l" defTabSz="1088197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2785" algn="l" defTabSz="1088197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44" autoAdjust="0"/>
    <p:restoredTop sz="86380" autoAdjust="0"/>
  </p:normalViewPr>
  <p:slideViewPr>
    <p:cSldViewPr>
      <p:cViewPr varScale="1">
        <p:scale>
          <a:sx n="58" d="100"/>
          <a:sy n="58" d="100"/>
        </p:scale>
        <p:origin x="-108" y="-16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240" y="253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handoutMaster" Target="handoutMasters/handoutMaster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59" y="0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EBEF7-101A-4E67-91FB-EABE1E36DBAD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573"/>
            <a:ext cx="3038604" cy="4653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59" y="8829573"/>
            <a:ext cx="3038604" cy="4653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B6F8C-611F-410B-80E6-64775E50CB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F841E-81FD-4582-9ABD-88EA5E0AAFE3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442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97F74-A082-4964-9482-7AB959340EE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F97F74-A082-4964-9482-7AB959340EE5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4425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F97F74-A082-4964-9482-7AB959340EE5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015" y="1371600"/>
            <a:ext cx="1046613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015" y="3228536"/>
            <a:ext cx="10470201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FEB34-80CE-4178-A288-87EF5E3CE411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43CB4-42DD-449C-9368-B3B716499E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FEB34-80CE-4178-A288-87EF5E3CE411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43CB4-42DD-449C-9368-B3B716499E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52" y="1316737"/>
            <a:ext cx="10360501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52" y="2704664"/>
            <a:ext cx="10360501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FEB34-80CE-4178-A288-87EF5E3CE411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43CB4-42DD-449C-9368-B3B716499E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704088"/>
            <a:ext cx="10969943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920085"/>
            <a:ext cx="5383398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920085"/>
            <a:ext cx="5383398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FEB34-80CE-4178-A288-87EF5E3CE411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43CB4-42DD-449C-9368-B3B716499E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704088"/>
            <a:ext cx="10969943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2" y="1855248"/>
            <a:ext cx="5385514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1755" y="1859758"/>
            <a:ext cx="5387629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442" y="2514600"/>
            <a:ext cx="5385514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5" y="2514600"/>
            <a:ext cx="5387629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FEB34-80CE-4178-A288-87EF5E3CE411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43CB4-42DD-449C-9368-B3B716499E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704088"/>
            <a:ext cx="11071516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FEB34-80CE-4178-A288-87EF5E3CE411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43CB4-42DD-449C-9368-B3B716499E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FEB34-80CE-4178-A288-87EF5E3CE411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43CB4-42DD-449C-9368-B3B716499E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2" y="514352"/>
            <a:ext cx="3656648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162" y="1676400"/>
            <a:ext cx="3656648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5492" y="1676400"/>
            <a:ext cx="6813893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FEB34-80CE-4178-A288-87EF5E3CE411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43CB4-42DD-449C-9368-B3B716499E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19905" y="1108077"/>
            <a:ext cx="7008574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69399" y="5359769"/>
            <a:ext cx="207210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8" y="1176998"/>
            <a:ext cx="2949696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" y="2828785"/>
            <a:ext cx="2945633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FEB34-80CE-4178-A288-87EF5E3CE411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6796" y="6356352"/>
            <a:ext cx="812588" cy="365125"/>
          </a:xfrm>
        </p:spPr>
        <p:txBody>
          <a:bodyPr/>
          <a:lstStyle/>
          <a:p>
            <a:fld id="{60F43CB4-42DD-449C-9368-B3B716499E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6514" y="1199517"/>
            <a:ext cx="6155357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696" y="5816600"/>
            <a:ext cx="12214217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0480" y="6219827"/>
            <a:ext cx="6348346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FEB34-80CE-4178-A288-87EF5E3CE411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43CB4-42DD-449C-9368-B3B716499E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914403"/>
            <a:ext cx="2742486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914403"/>
            <a:ext cx="802431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FEB34-80CE-4178-A288-87EF5E3CE411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43CB4-42DD-449C-9368-B3B716499E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696" y="-7144"/>
            <a:ext cx="12214217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0480" y="-7143"/>
            <a:ext cx="6348346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441" y="704088"/>
            <a:ext cx="10969943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441" y="1935480"/>
            <a:ext cx="10969943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441" y="6356352"/>
            <a:ext cx="2844059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69FEB34-80CE-4178-A288-87EF5E3CE411}" type="datetimeFigureOut">
              <a:rPr lang="en-US" smtClean="0"/>
              <a:pPr/>
              <a:t>6/13/2024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5074" y="6356352"/>
            <a:ext cx="4469236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3650" y="6356352"/>
            <a:ext cx="1015735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0F43CB4-42DD-449C-9368-B3B716499E0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25347" y="202408"/>
            <a:ext cx="12237543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9413" y="838200"/>
            <a:ext cx="11430000" cy="3276600"/>
          </a:xfrm>
        </p:spPr>
        <p:txBody>
          <a:bodyPr>
            <a:noAutofit/>
          </a:bodyPr>
          <a:lstStyle/>
          <a:p>
            <a:pPr algn="ctr"/>
            <a:r>
              <a:rPr lang="en-US" sz="6000" cap="small" dirty="0">
                <a:latin typeface="Aharoni" pitchFamily="2" charset="-79"/>
                <a:cs typeface="Aharoni" pitchFamily="2" charset="-79"/>
              </a:rPr>
              <a:t>“STRATEGIC IMPLEMENTATION OF </a:t>
            </a:r>
            <a:r>
              <a:rPr lang="en-US" sz="6000" dirty="0">
                <a:latin typeface="Aharoni" pitchFamily="2" charset="-79"/>
                <a:cs typeface="Aharoni" pitchFamily="2" charset="-79"/>
              </a:rPr>
              <a:t>ARTIFICIAL INTELLIGENCE IN DIAGNOSING LARYNGEAL DISEASE</a:t>
            </a:r>
            <a:r>
              <a:rPr lang="en-US" sz="6000" cap="small" dirty="0">
                <a:latin typeface="Aharoni" pitchFamily="2" charset="-79"/>
                <a:cs typeface="Aharoni" pitchFamily="2" charset="-79"/>
              </a:rPr>
              <a:t>”</a:t>
            </a:r>
            <a:endParaRPr lang="en-US" sz="6000" dirty="0">
              <a:solidFill>
                <a:schemeClr val="accent6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5029200"/>
            <a:ext cx="11733212" cy="14478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j-lt"/>
              </a:rPr>
              <a:t>BY– DR. NEHA CHAUDHARY</a:t>
            </a:r>
          </a:p>
          <a:p>
            <a:pPr algn="r"/>
            <a:r>
              <a:rPr lang="en-US" sz="3200" b="1" dirty="0">
                <a:solidFill>
                  <a:srgbClr val="002060"/>
                </a:solidFill>
                <a:latin typeface="+mj-lt"/>
              </a:rPr>
              <a:t>JR-1 ENT</a:t>
            </a:r>
          </a:p>
          <a:p>
            <a:pPr algn="r"/>
            <a:r>
              <a:rPr lang="en-US" sz="3200" b="1" dirty="0">
                <a:solidFill>
                  <a:srgbClr val="002060"/>
                </a:solidFill>
                <a:latin typeface="+mj-lt"/>
              </a:rPr>
              <a:t>GSVM MEDICAL COLLEGE, KANPUR</a:t>
            </a:r>
          </a:p>
        </p:txBody>
      </p:sp>
    </p:spTree>
  </p:cSld>
  <p:clrMapOvr>
    <a:masterClrMapping/>
  </p:clrMapOvr>
  <p:transition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12516" y="2286000"/>
            <a:ext cx="11782531" cy="2514600"/>
          </a:xfrm>
          <a:prstGeom prst="rect">
            <a:avLst/>
          </a:prstGeom>
        </p:spPr>
        <p:txBody>
          <a:bodyPr lIns="108819" tIns="54410" rIns="108819" bIns="54410" anchor="ctr">
            <a:no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RECOMMENDATION OF CHIEF SUPERVISER</a:t>
            </a:r>
            <a:r>
              <a:rPr lang="en-US" sz="3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 </a:t>
            </a:r>
            <a:endParaRPr lang="en-US" sz="25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500" b="1" cap="all" dirty="0">
                <a:latin typeface="Arial" pitchFamily="34" charset="0"/>
                <a:cs typeface="Arial" pitchFamily="34" charset="0"/>
              </a:rPr>
              <a:t>DR. HARENDRA K.GAUTAM, M.S. (ENT), Professor, </a:t>
            </a:r>
          </a:p>
          <a:p>
            <a:pPr algn="ctr"/>
            <a:r>
              <a:rPr lang="en-US" sz="2500" b="1" cap="all" dirty="0">
                <a:latin typeface="Arial" pitchFamily="34" charset="0"/>
                <a:cs typeface="Arial" pitchFamily="34" charset="0"/>
              </a:rPr>
              <a:t>Department of ENT</a:t>
            </a:r>
          </a:p>
          <a:p>
            <a:pPr algn="ctr"/>
            <a:endParaRPr lang="en-US" sz="25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en-US" sz="25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3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RECOMMENDATION OF CO-SUPERVISORS</a:t>
            </a:r>
          </a:p>
          <a:p>
            <a:pPr algn="ctr"/>
            <a:endParaRPr lang="en-US" sz="32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500" cap="all" dirty="0">
                <a:latin typeface="Arial" pitchFamily="34" charset="0"/>
                <a:cs typeface="Arial" pitchFamily="34" charset="0"/>
              </a:rPr>
              <a:t> DR. S. K. KANAUJIA , M.S. (ENT), </a:t>
            </a:r>
            <a:r>
              <a:rPr lang="en-US" sz="2500" dirty="0">
                <a:latin typeface="Arial" pitchFamily="34" charset="0"/>
                <a:cs typeface="Arial" pitchFamily="34" charset="0"/>
              </a:rPr>
              <a:t>Professor &amp; Head</a:t>
            </a:r>
            <a:r>
              <a:rPr lang="en-US" sz="2500" cap="all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2500" dirty="0">
                <a:latin typeface="Arial" pitchFamily="34" charset="0"/>
                <a:cs typeface="Arial" pitchFamily="34" charset="0"/>
              </a:rPr>
              <a:t>Department of ENT</a:t>
            </a:r>
            <a:r>
              <a:rPr lang="en-US" sz="2500" cap="all" dirty="0">
                <a:latin typeface="Arial" pitchFamily="34" charset="0"/>
                <a:cs typeface="Arial" pitchFamily="34" charset="0"/>
              </a:rPr>
              <a:t> </a:t>
            </a:r>
          </a:p>
          <a:p>
            <a:pPr algn="just">
              <a:buFont typeface="Arial" pitchFamily="34" charset="0"/>
              <a:buChar char="•"/>
            </a:pPr>
            <a:r>
              <a:rPr lang="en-US" sz="2500" cap="all" dirty="0">
                <a:latin typeface="Arial" pitchFamily="34" charset="0"/>
                <a:cs typeface="Arial" pitchFamily="34" charset="0"/>
              </a:rPr>
              <a:t> Dr. ABHISHEK KESARWANI, </a:t>
            </a:r>
            <a:r>
              <a:rPr lang="en-US" sz="2500" dirty="0">
                <a:latin typeface="Arial" pitchFamily="34" charset="0"/>
                <a:cs typeface="Arial" pitchFamily="34" charset="0"/>
              </a:rPr>
              <a:t>Assistant Professor, </a:t>
            </a:r>
            <a:r>
              <a:rPr lang="en-US" sz="2500" dirty="0" err="1">
                <a:latin typeface="Arial" pitchFamily="34" charset="0"/>
                <a:cs typeface="Arial" pitchFamily="34" charset="0"/>
              </a:rPr>
              <a:t>Manipal</a:t>
            </a:r>
            <a:r>
              <a:rPr lang="en-US" sz="2500" dirty="0">
                <a:latin typeface="Arial" pitchFamily="34" charset="0"/>
                <a:cs typeface="Arial" pitchFamily="34" charset="0"/>
              </a:rPr>
              <a:t> University Jaipur</a:t>
            </a:r>
          </a:p>
          <a:p>
            <a:pPr algn="just">
              <a:buFont typeface="Arial" pitchFamily="34" charset="0"/>
              <a:buChar char="•"/>
            </a:pPr>
            <a:r>
              <a:rPr lang="en-US" sz="2500" cap="all" dirty="0">
                <a:latin typeface="Arial" pitchFamily="34" charset="0"/>
                <a:cs typeface="Arial" pitchFamily="34" charset="0"/>
              </a:rPr>
              <a:t> DR. AMRITA SRIVASTAVA, MS (ENT), </a:t>
            </a:r>
            <a:r>
              <a:rPr lang="en-US" sz="2500" dirty="0">
                <a:latin typeface="Arial" pitchFamily="34" charset="0"/>
                <a:cs typeface="Arial" pitchFamily="34" charset="0"/>
              </a:rPr>
              <a:t>Associate Professor</a:t>
            </a:r>
            <a:r>
              <a:rPr lang="en-US" sz="2500" cap="all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2500" dirty="0">
                <a:latin typeface="Arial" pitchFamily="34" charset="0"/>
                <a:cs typeface="Arial" pitchFamily="34" charset="0"/>
              </a:rPr>
              <a:t>Department of ENT</a:t>
            </a:r>
            <a:endParaRPr lang="en-US" sz="2500" cap="all" dirty="0">
              <a:latin typeface="Arial" pitchFamily="34" charset="0"/>
              <a:cs typeface="Arial" pitchFamily="34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500" cap="all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500" dirty="0">
                <a:latin typeface="Arial" pitchFamily="34" charset="0"/>
                <a:cs typeface="Arial" pitchFamily="34" charset="0"/>
              </a:rPr>
              <a:t>DR. TANU MIDHA, MD, Professor, Department of Community Medicine</a:t>
            </a:r>
          </a:p>
          <a:p>
            <a:pPr algn="just">
              <a:buFont typeface="Arial" pitchFamily="34" charset="0"/>
              <a:buChar char="•"/>
            </a:pPr>
            <a:r>
              <a:rPr lang="en-US" sz="2500" dirty="0">
                <a:latin typeface="Arial" pitchFamily="34" charset="0"/>
                <a:cs typeface="Arial" pitchFamily="34" charset="0"/>
              </a:rPr>
              <a:t> DR.NISHANT S. SAXENA, MS (ENT), Associate Professor, Department of ENT</a:t>
            </a:r>
          </a:p>
          <a:p>
            <a:pPr algn="just">
              <a:buFont typeface="Arial" pitchFamily="34" charset="0"/>
              <a:buChar char="•"/>
            </a:pPr>
            <a:r>
              <a:rPr lang="en-US" sz="2500" dirty="0">
                <a:latin typeface="Arial" pitchFamily="34" charset="0"/>
                <a:cs typeface="Arial" pitchFamily="34" charset="0"/>
              </a:rPr>
              <a:t> DR. SIROMAN SINGH, M</a:t>
            </a:r>
            <a:r>
              <a:rPr lang="en-IN" sz="2500" dirty="0">
                <a:latin typeface="Arial" pitchFamily="34" charset="0"/>
                <a:cs typeface="Arial" pitchFamily="34" charset="0"/>
              </a:rPr>
              <a:t>.SC</a:t>
            </a:r>
            <a:r>
              <a:rPr lang="en-US" sz="2500" dirty="0">
                <a:latin typeface="Arial" pitchFamily="34" charset="0"/>
                <a:cs typeface="Arial" pitchFamily="34" charset="0"/>
              </a:rPr>
              <a:t> (Statistician), Ph.D. Central Research Centre</a:t>
            </a:r>
            <a:endParaRPr lang="en-IN" sz="25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12" y="152400"/>
            <a:ext cx="11430000" cy="838200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Arial Black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014" y="990600"/>
            <a:ext cx="11506199" cy="5571066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000" dirty="0">
                <a:latin typeface="Arial" pitchFamily="34" charset="0"/>
                <a:cs typeface="Arial" pitchFamily="34" charset="0"/>
              </a:rPr>
              <a:t>Laryngeal disease classified into – Non Neoplastic</a:t>
            </a:r>
          </a:p>
          <a:p>
            <a:pPr marL="0" indent="0" algn="just">
              <a:buNone/>
            </a:pPr>
            <a:r>
              <a:rPr lang="en-IN" sz="3000" dirty="0">
                <a:latin typeface="Arial" pitchFamily="34" charset="0"/>
                <a:cs typeface="Arial" pitchFamily="34" charset="0"/>
              </a:rPr>
              <a:t>                                                        Pre Neoplastic </a:t>
            </a:r>
          </a:p>
          <a:p>
            <a:pPr marL="0" indent="0" algn="just">
              <a:buNone/>
            </a:pPr>
            <a:r>
              <a:rPr lang="en-IN" sz="3000" dirty="0">
                <a:latin typeface="Arial" pitchFamily="34" charset="0"/>
                <a:cs typeface="Arial" pitchFamily="34" charset="0"/>
              </a:rPr>
              <a:t>                                                        Neoplastic </a:t>
            </a:r>
            <a:endParaRPr lang="en-US" sz="30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Prior to laryngeal cancer, cellular changes begin </a:t>
            </a:r>
            <a:r>
              <a:rPr lang="en-IN" sz="3000" dirty="0">
                <a:latin typeface="Arial" pitchFamily="34" charset="0"/>
                <a:cs typeface="Arial" pitchFamily="34" charset="0"/>
              </a:rPr>
              <a:t>–</a:t>
            </a:r>
          </a:p>
          <a:p>
            <a:pPr marL="0" indent="0" algn="just">
              <a:buNone/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3000" dirty="0">
                <a:latin typeface="Arial" pitchFamily="34" charset="0"/>
                <a:cs typeface="Arial" pitchFamily="34" charset="0"/>
              </a:rPr>
              <a:t>E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pithelial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hyperplasia</a:t>
            </a:r>
            <a:r>
              <a:rPr lang="en-IN" sz="3000" dirty="0">
                <a:latin typeface="Arial" pitchFamily="34" charset="0"/>
                <a:cs typeface="Arial" pitchFamily="34" charset="0"/>
              </a:rPr>
              <a:t>  </a:t>
            </a:r>
          </a:p>
          <a:p>
            <a:pPr marL="0" indent="0" algn="just">
              <a:buNone/>
            </a:pPr>
            <a:endParaRPr lang="en-IN" sz="30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r>
              <a:rPr lang="en-IN" sz="3000" dirty="0">
                <a:latin typeface="Arial" pitchFamily="34" charset="0"/>
                <a:cs typeface="Arial" pitchFamily="34" charset="0"/>
              </a:rPr>
              <a:t>D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ysplasia</a:t>
            </a:r>
            <a:endParaRPr lang="en-IN" sz="30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IN" sz="30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r>
              <a:rPr lang="en-IN" sz="3000" dirty="0">
                <a:latin typeface="Arial" pitchFamily="34" charset="0"/>
                <a:cs typeface="Arial" pitchFamily="34" charset="0"/>
              </a:rPr>
              <a:t>C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arcinoma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in situ </a:t>
            </a:r>
            <a:endParaRPr lang="en-IN" sz="30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IN" sz="30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invasive cancer</a:t>
            </a:r>
            <a:r>
              <a:rPr lang="en-US" sz="3000" b="1" baseline="30000" dirty="0">
                <a:latin typeface="Arial" pitchFamily="34" charset="0"/>
                <a:cs typeface="Arial" pitchFamily="34" charset="0"/>
              </a:rPr>
              <a:t>[1,2]</a:t>
            </a:r>
            <a:endParaRPr lang="en-US" sz="30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95BB043-7843-2C5A-FB8A-3A4281B09E3B}"/>
              </a:ext>
            </a:extLst>
          </p:cNvPr>
          <p:cNvCxnSpPr>
            <a:cxnSpLocks/>
          </p:cNvCxnSpPr>
          <p:nvPr/>
        </p:nvCxnSpPr>
        <p:spPr>
          <a:xfrm>
            <a:off x="1239762" y="3719286"/>
            <a:ext cx="0" cy="544285"/>
          </a:xfrm>
          <a:prstGeom prst="straightConnector1">
            <a:avLst/>
          </a:prstGeom>
          <a:ln w="76200">
            <a:solidFill>
              <a:srgbClr val="0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85C3A81-6F87-1A6C-1D24-23CD2DB0FE16}"/>
              </a:ext>
            </a:extLst>
          </p:cNvPr>
          <p:cNvCxnSpPr>
            <a:cxnSpLocks/>
          </p:cNvCxnSpPr>
          <p:nvPr/>
        </p:nvCxnSpPr>
        <p:spPr>
          <a:xfrm>
            <a:off x="1239762" y="4777619"/>
            <a:ext cx="0" cy="680357"/>
          </a:xfrm>
          <a:prstGeom prst="straightConnector1">
            <a:avLst/>
          </a:prstGeom>
          <a:ln w="762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A9A0247-3D85-B3C1-1FEA-77CF3C6F2FF1}"/>
              </a:ext>
            </a:extLst>
          </p:cNvPr>
          <p:cNvCxnSpPr>
            <a:cxnSpLocks/>
          </p:cNvCxnSpPr>
          <p:nvPr/>
        </p:nvCxnSpPr>
        <p:spPr>
          <a:xfrm>
            <a:off x="1239762" y="5851071"/>
            <a:ext cx="0" cy="529167"/>
          </a:xfrm>
          <a:prstGeom prst="straightConnector1">
            <a:avLst/>
          </a:prstGeom>
          <a:ln w="762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1812" y="990600"/>
            <a:ext cx="112775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spcBef>
                <a:spcPts val="1800"/>
              </a:spcBef>
              <a:buFont typeface="Arial" pitchFamily="34" charset="0"/>
              <a:buChar char="•"/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The aim of modern diagnostics is the proper assessment of lesions in the larynx with the lowest possible invasiveness of the examination. </a:t>
            </a:r>
          </a:p>
          <a:p>
            <a:pPr marL="274320" indent="-274320" algn="just">
              <a:spcBef>
                <a:spcPts val="1800"/>
              </a:spcBef>
              <a:buFont typeface="Arial" pitchFamily="34" charset="0"/>
              <a:buChar char="•"/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First, it is necessary to distinguish malignant and potentially malignant lesions from benign ones. </a:t>
            </a:r>
          </a:p>
          <a:p>
            <a:pPr marL="274320" indent="-274320" algn="just">
              <a:spcBef>
                <a:spcPts val="1800"/>
              </a:spcBef>
              <a:buFont typeface="Arial" pitchFamily="34" charset="0"/>
              <a:buChar char="•"/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The benign vocal fold lesion</a:t>
            </a:r>
            <a:r>
              <a:rPr lang="en-IN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includes nodules, polyps, cysts, pseudocysts</a:t>
            </a:r>
            <a:r>
              <a:rPr lang="en-IN" sz="30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79281" y="1036637"/>
            <a:ext cx="11782531" cy="41116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  <a:latin typeface="Arial Black" pitchFamily="34" charset="0"/>
              </a:rPr>
              <a:t>AIM  &amp; OBJECTIVES</a:t>
            </a:r>
            <a:r>
              <a:rPr lang="en-US" sz="4800" dirty="0">
                <a:solidFill>
                  <a:srgbClr val="C00000"/>
                </a:solidFill>
                <a:latin typeface="Arial Black" pitchFamily="3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752601"/>
            <a:ext cx="11277599" cy="342900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AIM:</a:t>
            </a: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To study the efficacy of Artificial Intelligence tool in differentiating benign and malignant laryngeal diseases.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5613" y="533399"/>
            <a:ext cx="11277599" cy="3429001"/>
          </a:xfrm>
        </p:spPr>
        <p:txBody>
          <a:bodyPr>
            <a:noAutofit/>
          </a:bodyPr>
          <a:lstStyle/>
          <a:p>
            <a:pPr algn="just">
              <a:buNone/>
            </a:pPr>
            <a:endParaRPr lang="en-US" sz="3200" b="1" dirty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OBJECTIVES:</a:t>
            </a: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 lvl="0" algn="just"/>
            <a:r>
              <a:rPr lang="en-US" sz="3200" dirty="0">
                <a:latin typeface="Arial" pitchFamily="34" charset="0"/>
                <a:cs typeface="Arial" pitchFamily="34" charset="0"/>
              </a:rPr>
              <a:t>To develop an Artificial Intelligence tool to diagnose laryngeal diseases.</a:t>
            </a:r>
          </a:p>
          <a:p>
            <a:pPr lvl="0" algn="just"/>
            <a:r>
              <a:rPr lang="en-US" sz="3200" dirty="0">
                <a:latin typeface="Arial" pitchFamily="34" charset="0"/>
                <a:cs typeface="Arial" pitchFamily="34" charset="0"/>
              </a:rPr>
              <a:t>To study the efficacy of Artificial Intelligence tool being used in differentiating between benign and malignant laryngeal diseases.</a:t>
            </a:r>
          </a:p>
          <a:p>
            <a:pPr algn="just"/>
            <a:r>
              <a:rPr lang="en-US" sz="3200" dirty="0">
                <a:latin typeface="Arial" pitchFamily="34" charset="0"/>
                <a:cs typeface="Arial" pitchFamily="34" charset="0"/>
              </a:rPr>
              <a:t>To assess sensitivity and specificity of Artificial Intelligence tool in differentiating between benign and malignant laryngeal diseases.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10938" y="228600"/>
            <a:ext cx="12077889" cy="643596"/>
          </a:xfrm>
        </p:spPr>
        <p:txBody>
          <a:bodyPr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4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MATERIAL &amp; METHODS</a:t>
            </a:r>
            <a:endParaRPr lang="en-US" sz="36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227012" y="1143000"/>
            <a:ext cx="11658600" cy="5334000"/>
          </a:xfrm>
          <a:prstGeom prst="rect">
            <a:avLst/>
          </a:prstGeom>
        </p:spPr>
        <p:txBody>
          <a:bodyPr vert="horz" lIns="108819" tIns="54410" rIns="108819" bIns="54410">
            <a:noAutofit/>
          </a:bodyPr>
          <a:lstStyle/>
          <a:p>
            <a:pPr marL="566928" indent="-402336" algn="just"/>
            <a:r>
              <a:rPr lang="en-US" sz="3200" b="1" dirty="0">
                <a:latin typeface="Arial" pitchFamily="34" charset="0"/>
                <a:cs typeface="Arial" pitchFamily="34" charset="0"/>
              </a:rPr>
              <a:t>Study design</a:t>
            </a:r>
          </a:p>
          <a:p>
            <a:pPr marL="566928" indent="-402336" algn="just">
              <a:buFont typeface="Wingdings" pitchFamily="2" charset="2"/>
              <a:buChar char="§"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The single centre prospective observational study will be conducted in the department of Ear, Nose &amp; Throat G.S.V.M. Medical College and LLR associated Hospital Kanpur.</a:t>
            </a:r>
          </a:p>
          <a:p>
            <a:pPr marL="566928" indent="-402336" algn="just"/>
            <a:r>
              <a:rPr lang="en-US" sz="3200" b="1" dirty="0">
                <a:latin typeface="Arial" pitchFamily="34" charset="0"/>
                <a:cs typeface="Arial" pitchFamily="34" charset="0"/>
              </a:rPr>
              <a:t>Source of Data</a:t>
            </a:r>
          </a:p>
          <a:p>
            <a:pPr marL="566928" indent="-402336" algn="just">
              <a:buFont typeface="Wingdings" pitchFamily="2" charset="2"/>
              <a:buChar char="§"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The OPD/Indoor patients attending the department of ENT in LLRH Hospital, GSVM Medical College, Kanpur UP.</a:t>
            </a:r>
          </a:p>
          <a:p>
            <a:pPr marL="566928" indent="-402336" algn="just"/>
            <a:r>
              <a:rPr lang="en-US" sz="3200" b="1" dirty="0">
                <a:latin typeface="Arial" pitchFamily="34" charset="0"/>
                <a:cs typeface="Arial" pitchFamily="34" charset="0"/>
              </a:rPr>
              <a:t>Duration of study</a:t>
            </a:r>
          </a:p>
          <a:p>
            <a:pPr marL="566928" indent="-402336" algn="just">
              <a:buFont typeface="Wingdings" pitchFamily="2" charset="2"/>
              <a:buChar char="§"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Twenty two (22) Months, on patients who will be admitted as well as out patients department.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27012" y="304800"/>
            <a:ext cx="11658600" cy="5943600"/>
          </a:xfrm>
          <a:prstGeom prst="rect">
            <a:avLst/>
          </a:prstGeom>
        </p:spPr>
        <p:txBody>
          <a:bodyPr vert="horz" lIns="108819" tIns="54410" rIns="108819" bIns="54410">
            <a:noAutofit/>
          </a:bodyPr>
          <a:lstStyle/>
          <a:p>
            <a:pPr marL="566928" indent="-402336" algn="just"/>
            <a:endParaRPr lang="en-US" sz="3200" b="1" dirty="0">
              <a:latin typeface="Arial" pitchFamily="34" charset="0"/>
              <a:cs typeface="Arial" pitchFamily="34" charset="0"/>
            </a:endParaRPr>
          </a:p>
          <a:p>
            <a:pPr marL="566928" indent="-402336" algn="just"/>
            <a:r>
              <a:rPr lang="en-US" sz="3200" b="1" dirty="0">
                <a:latin typeface="Arial" pitchFamily="34" charset="0"/>
                <a:cs typeface="Arial" pitchFamily="34" charset="0"/>
              </a:rPr>
              <a:t>Inclusion Criteria:</a:t>
            </a:r>
          </a:p>
          <a:p>
            <a:pPr marL="566928" indent="-402336" algn="just">
              <a:buFont typeface="Wingdings" pitchFamily="2" charset="2"/>
              <a:buChar char="§"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Age- 18-50 years</a:t>
            </a:r>
          </a:p>
          <a:p>
            <a:pPr marL="566928" indent="-402336" algn="just">
              <a:buFont typeface="Wingdings" pitchFamily="2" charset="2"/>
              <a:buChar char="§"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Patient presenting with voice change secondary to laryngeal diseases.</a:t>
            </a:r>
          </a:p>
          <a:p>
            <a:pPr marL="566928" indent="-402336" algn="just"/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BE99C-AC87-8793-3C09-BEA2A47C0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1" y="846667"/>
            <a:ext cx="10969943" cy="5477933"/>
          </a:xfrm>
        </p:spPr>
        <p:txBody>
          <a:bodyPr>
            <a:normAutofit/>
          </a:bodyPr>
          <a:lstStyle/>
          <a:p>
            <a:pPr marL="566928" indent="-402336" algn="just"/>
            <a:r>
              <a:rPr lang="en-US" sz="3200" b="1" dirty="0">
                <a:latin typeface="Arial" pitchFamily="34" charset="0"/>
                <a:cs typeface="Arial" pitchFamily="34" charset="0"/>
              </a:rPr>
              <a:t>Exclusion Criteria</a:t>
            </a:r>
          </a:p>
          <a:p>
            <a:pPr marL="566928" indent="-402336" algn="just">
              <a:buFont typeface="Wingdings" pitchFamily="2" charset="2"/>
              <a:buChar char="§"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Voice change secondary to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rhinological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cause </a:t>
            </a:r>
          </a:p>
          <a:p>
            <a:pPr marL="566928" indent="-402336" algn="just">
              <a:buFont typeface="Wingdings" pitchFamily="2" charset="2"/>
              <a:buChar char="§"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Cleft lip and cleft palate</a:t>
            </a:r>
          </a:p>
          <a:p>
            <a:pPr marL="566928" indent="-402336" algn="just">
              <a:buFont typeface="Wingdings" pitchFamily="2" charset="2"/>
              <a:buChar char="§"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Clinical and radiological lung abnormalities</a:t>
            </a:r>
          </a:p>
          <a:p>
            <a:pPr marL="566928" indent="-402336" algn="just">
              <a:buFont typeface="Wingdings" pitchFamily="2" charset="2"/>
              <a:buChar char="§"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Psychogenic abnormalities</a:t>
            </a:r>
          </a:p>
          <a:p>
            <a:pPr marL="566928" indent="-402336" algn="just">
              <a:buFont typeface="Wingdings" pitchFamily="2" charset="2"/>
              <a:buChar char="§"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Voice change due to central cause (other than laryngeal diseases)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00584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1186" y="489858"/>
            <a:ext cx="11353800" cy="5910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lnSpc>
                <a:spcPct val="150000"/>
              </a:lnSpc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Sample Size</a:t>
            </a:r>
          </a:p>
          <a:p>
            <a:pPr marL="274320" indent="-27432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Hundred patients presented with voice change secondary to laryngeal diseases both from in patient and out patient were selected for study.</a:t>
            </a:r>
          </a:p>
          <a:p>
            <a:pPr marL="274320" indent="-274320" algn="just">
              <a:lnSpc>
                <a:spcPct val="150000"/>
              </a:lnSpc>
            </a:pPr>
            <a:r>
              <a:rPr lang="en-IN" sz="3200" b="1" dirty="0">
                <a:latin typeface="Arial" pitchFamily="34" charset="0"/>
                <a:cs typeface="Arial" pitchFamily="34" charset="0"/>
              </a:rPr>
              <a:t>Statistical Analysis :</a:t>
            </a:r>
          </a:p>
          <a:p>
            <a:pPr marL="274320" indent="-27432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3200" dirty="0">
                <a:latin typeface="Arial" pitchFamily="34" charset="0"/>
                <a:cs typeface="Arial" pitchFamily="34" charset="0"/>
              </a:rPr>
              <a:t>Data collected and entered under excel sheet and analysed by appropriate statistical tools.</a:t>
            </a: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 marL="274320" indent="-274320" algn="just">
              <a:lnSpc>
                <a:spcPct val="150000"/>
              </a:lnSpc>
              <a:buFont typeface="Arial" pitchFamily="34" charset="0"/>
              <a:buChar char="•"/>
            </a:pP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9412" y="304800"/>
            <a:ext cx="11353800" cy="7387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lnSpc>
                <a:spcPct val="150000"/>
              </a:lnSpc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Methodology</a:t>
            </a:r>
            <a:endParaRPr lang="en-IN" sz="3200" b="1" dirty="0">
              <a:latin typeface="Arial" pitchFamily="34" charset="0"/>
              <a:cs typeface="Arial" pitchFamily="34" charset="0"/>
            </a:endParaRPr>
          </a:p>
          <a:p>
            <a:pPr marL="274320" indent="-274320" algn="just">
              <a:lnSpc>
                <a:spcPct val="150000"/>
              </a:lnSpc>
            </a:pPr>
            <a:r>
              <a:rPr lang="en-IN" sz="3200" dirty="0">
                <a:latin typeface="Arial" pitchFamily="34" charset="0"/>
                <a:cs typeface="Arial" pitchFamily="34" charset="0"/>
              </a:rPr>
              <a:t>Study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population will be </a:t>
            </a:r>
            <a:r>
              <a:rPr lang="en-IN" sz="3200" dirty="0">
                <a:latin typeface="Arial" pitchFamily="34" charset="0"/>
                <a:cs typeface="Arial" pitchFamily="34" charset="0"/>
              </a:rPr>
              <a:t>evaluated for any significant history and will be subjected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thorough ENT assessment which includes</a:t>
            </a:r>
            <a:r>
              <a:rPr lang="en-IN" sz="3200" dirty="0">
                <a:latin typeface="Arial" pitchFamily="34" charset="0"/>
                <a:cs typeface="Arial" pitchFamily="34" charset="0"/>
              </a:rPr>
              <a:t>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Arial" pitchFamily="34" charset="0"/>
                <a:cs typeface="Arial" pitchFamily="34" charset="0"/>
              </a:rPr>
              <a:t>History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Arial" pitchFamily="34" charset="0"/>
                <a:cs typeface="Arial" pitchFamily="34" charset="0"/>
              </a:rPr>
              <a:t>Clinical Examination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Arial" pitchFamily="34" charset="0"/>
                <a:cs typeface="Arial" pitchFamily="34" charset="0"/>
              </a:rPr>
              <a:t>Indirect laryngoscopy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Arial" pitchFamily="34" charset="0"/>
                <a:cs typeface="Arial" pitchFamily="34" charset="0"/>
              </a:rPr>
              <a:t>Fibre optic laryngoscopy</a:t>
            </a:r>
          </a:p>
          <a:p>
            <a:pPr algn="just">
              <a:lnSpc>
                <a:spcPct val="150000"/>
              </a:lnSpc>
            </a:pPr>
            <a:r>
              <a:rPr lang="en-IN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after taking proper written informed consent</a:t>
            </a:r>
            <a:r>
              <a:rPr lang="en-IN" sz="3200" dirty="0">
                <a:latin typeface="Arial" pitchFamily="34" charset="0"/>
                <a:cs typeface="Arial" pitchFamily="34" charset="0"/>
              </a:rPr>
              <a:t> from the patient).</a:t>
            </a:r>
          </a:p>
          <a:p>
            <a:pPr algn="just">
              <a:lnSpc>
                <a:spcPct val="150000"/>
              </a:lnSpc>
            </a:pPr>
            <a:endParaRPr lang="en-IN" sz="3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FB344-ECDA-0687-58BB-60E594E37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1" y="559405"/>
            <a:ext cx="10969943" cy="576519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The voice recording of those patients will be done using microphone. </a:t>
            </a:r>
            <a:endParaRPr lang="en-IN" sz="3200" dirty="0">
              <a:latin typeface="Arial" pitchFamily="34" charset="0"/>
              <a:cs typeface="Arial" pitchFamily="34" charset="0"/>
            </a:endParaRP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The recorded voice will be analyzed with help of an Artificial Intelligence Tool. </a:t>
            </a:r>
            <a:endParaRPr lang="en-IN" sz="3200" dirty="0">
              <a:latin typeface="Arial" pitchFamily="34" charset="0"/>
              <a:cs typeface="Arial" pitchFamily="34" charset="0"/>
            </a:endParaRP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The Artificial Intelligence Tool will be using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Convulated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Neural Network as basis which will generate spectrogram using python coding system.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94401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27014" y="0"/>
            <a:ext cx="11503263" cy="6400800"/>
          </a:xfrm>
        </p:spPr>
        <p:txBody>
          <a:bodyPr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2800" b="1" dirty="0">
                <a:latin typeface="Arial" pitchFamily="34" charset="0"/>
                <a:cs typeface="Arial" pitchFamily="34" charset="0"/>
              </a:rPr>
              <a:t>WORKING PROFORMA</a:t>
            </a:r>
          </a:p>
          <a:p>
            <a:pPr algn="ctr">
              <a:spcBef>
                <a:spcPts val="0"/>
              </a:spcBef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Name________________________ Age/sex__________________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Address___________________ Urban/Rural dweller____________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Socioeconomic status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Chief complaint</a:t>
            </a:r>
          </a:p>
          <a:p>
            <a:pPr lvl="1"/>
            <a:r>
              <a:rPr lang="en-US" sz="2800" dirty="0">
                <a:latin typeface="Arial" pitchFamily="34" charset="0"/>
                <a:cs typeface="Arial" pitchFamily="34" charset="0"/>
              </a:rPr>
              <a:t>Change in voice </a:t>
            </a:r>
          </a:p>
          <a:p>
            <a:pPr lvl="1"/>
            <a:r>
              <a:rPr lang="en-US" sz="2800" dirty="0" err="1">
                <a:latin typeface="Arial" pitchFamily="34" charset="0"/>
                <a:cs typeface="Arial" pitchFamily="34" charset="0"/>
              </a:rPr>
              <a:t>Dysphagia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1"/>
            <a:r>
              <a:rPr lang="en-US" sz="2800" dirty="0">
                <a:latin typeface="Arial" pitchFamily="34" charset="0"/>
                <a:cs typeface="Arial" pitchFamily="34" charset="0"/>
              </a:rPr>
              <a:t>Pain in the neck </a:t>
            </a:r>
          </a:p>
          <a:p>
            <a:pPr lvl="1"/>
            <a:r>
              <a:rPr lang="en-US" sz="2800" dirty="0">
                <a:latin typeface="Arial" pitchFamily="34" charset="0"/>
                <a:cs typeface="Arial" pitchFamily="34" charset="0"/>
              </a:rPr>
              <a:t>Foreign body sensation</a:t>
            </a:r>
          </a:p>
          <a:p>
            <a:pPr lvl="1"/>
            <a:r>
              <a:rPr lang="en-US" sz="2800" dirty="0">
                <a:latin typeface="Arial" pitchFamily="34" charset="0"/>
                <a:cs typeface="Arial" pitchFamily="34" charset="0"/>
              </a:rPr>
              <a:t>Cough on swallowing </a:t>
            </a:r>
          </a:p>
          <a:p>
            <a:pPr lvl="1"/>
            <a:r>
              <a:rPr lang="en-US" sz="2800" dirty="0">
                <a:latin typeface="Arial" pitchFamily="34" charset="0"/>
                <a:cs typeface="Arial" pitchFamily="34" charset="0"/>
              </a:rPr>
              <a:t>Tubercular history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27014" y="304800"/>
            <a:ext cx="11503263" cy="64008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History of present illness</a:t>
            </a:r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History of voice abuse </a:t>
            </a:r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Occupational history</a:t>
            </a:r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History of addiction </a:t>
            </a:r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Drug history</a:t>
            </a:r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Family history </a:t>
            </a:r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Personal history</a:t>
            </a:r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Past History (Previous history of TB, diabetic mellitus, hypertension)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73234-8520-6A1C-DBA5-F1103E9C1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1" y="755952"/>
            <a:ext cx="10969943" cy="556864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General examination</a:t>
            </a:r>
            <a:endParaRPr lang="en-IN" sz="3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3200" dirty="0">
              <a:latin typeface="Arial" pitchFamily="34" charset="0"/>
              <a:cs typeface="Arial" pitchFamily="34" charset="0"/>
            </a:endParaRP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Physical examination</a:t>
            </a:r>
            <a:endParaRPr lang="en-IN" sz="3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3200" dirty="0">
              <a:latin typeface="Arial" pitchFamily="34" charset="0"/>
              <a:cs typeface="Arial" pitchFamily="34" charset="0"/>
            </a:endParaRP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Systemic examination</a:t>
            </a:r>
            <a:endParaRPr lang="en-IN" sz="3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3200" dirty="0">
              <a:latin typeface="Arial" pitchFamily="34" charset="0"/>
              <a:cs typeface="Arial" pitchFamily="34" charset="0"/>
            </a:endParaRP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Local examination</a:t>
            </a:r>
            <a:endParaRPr lang="en-IN" sz="3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IN" sz="3200" dirty="0">
              <a:latin typeface="Arial" pitchFamily="34" charset="0"/>
              <a:cs typeface="Arial" pitchFamily="34" charset="0"/>
            </a:endParaRPr>
          </a:p>
          <a:p>
            <a:r>
              <a:rPr lang="en-US" sz="3200" dirty="0">
                <a:latin typeface="Arial" pitchFamily="34" charset="0"/>
                <a:cs typeface="Arial" pitchFamily="34" charset="0"/>
              </a:rPr>
              <a:t>Indirect laryngoscopy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955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27014" y="0"/>
            <a:ext cx="11503263" cy="6400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Arial" pitchFamily="34" charset="0"/>
                <a:cs typeface="Arial" pitchFamily="34" charset="0"/>
              </a:rPr>
              <a:t>Investigation</a:t>
            </a:r>
            <a:r>
              <a:rPr lang="en-IN" sz="2800" b="1" dirty="0">
                <a:latin typeface="Arial" pitchFamily="34" charset="0"/>
                <a:cs typeface="Arial" pitchFamily="34" charset="0"/>
              </a:rPr>
              <a:t>s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en-US" sz="2800" dirty="0">
                <a:latin typeface="Arial" pitchFamily="34" charset="0"/>
                <a:cs typeface="Arial" pitchFamily="34" charset="0"/>
              </a:rPr>
              <a:t>Routine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haemogram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sz="2800" dirty="0">
                <a:latin typeface="Arial" pitchFamily="34" charset="0"/>
                <a:cs typeface="Arial" pitchFamily="34" charset="0"/>
              </a:rPr>
              <a:t>CBC</a:t>
            </a:r>
          </a:p>
          <a:p>
            <a:pPr lvl="1"/>
            <a:r>
              <a:rPr lang="en-US" sz="2800" dirty="0">
                <a:latin typeface="Arial" pitchFamily="34" charset="0"/>
                <a:cs typeface="Arial" pitchFamily="34" charset="0"/>
              </a:rPr>
              <a:t>LFT</a:t>
            </a:r>
          </a:p>
          <a:p>
            <a:pPr lvl="1"/>
            <a:r>
              <a:rPr lang="en-US" sz="2800" dirty="0">
                <a:latin typeface="Arial" pitchFamily="34" charset="0"/>
                <a:cs typeface="Arial" pitchFamily="34" charset="0"/>
              </a:rPr>
              <a:t>KFT</a:t>
            </a:r>
          </a:p>
          <a:p>
            <a:pPr lvl="1"/>
            <a:r>
              <a:rPr lang="en-US" sz="2800" dirty="0">
                <a:latin typeface="Arial" pitchFamily="34" charset="0"/>
                <a:cs typeface="Arial" pitchFamily="34" charset="0"/>
              </a:rPr>
              <a:t>RBS</a:t>
            </a:r>
          </a:p>
          <a:p>
            <a:pPr lvl="0"/>
            <a:r>
              <a:rPr lang="en-US" sz="2800" dirty="0">
                <a:latin typeface="Arial" pitchFamily="34" charset="0"/>
                <a:cs typeface="Arial" pitchFamily="34" charset="0"/>
              </a:rPr>
              <a:t>Fiber optic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laryngoscopy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0"/>
            <a:r>
              <a:rPr lang="en-US" sz="2800" dirty="0">
                <a:latin typeface="Arial" pitchFamily="34" charset="0"/>
                <a:cs typeface="Arial" pitchFamily="34" charset="0"/>
              </a:rPr>
              <a:t>Direct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laryngoscopic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biopsy</a:t>
            </a:r>
          </a:p>
          <a:p>
            <a:pPr>
              <a:buNone/>
            </a:pPr>
            <a:endParaRPr lang="en-US" sz="2800" b="1" dirty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2800" b="1" dirty="0">
                <a:latin typeface="Arial" pitchFamily="34" charset="0"/>
                <a:cs typeface="Arial" pitchFamily="34" charset="0"/>
              </a:rPr>
              <a:t>	Ethical committee approval will duly be taken from institutional ethical committee.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381000"/>
            <a:ext cx="10969943" cy="59131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REFERENCES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3212" y="1249680"/>
            <a:ext cx="11430000" cy="4389120"/>
          </a:xfrm>
        </p:spPr>
        <p:txBody>
          <a:bodyPr>
            <a:noAutofit/>
          </a:bodyPr>
          <a:lstStyle/>
          <a:p>
            <a:pPr marL="514350" lvl="0" indent="-514350" algn="just">
              <a:buClr>
                <a:srgbClr val="C00000"/>
              </a:buClr>
              <a:buFont typeface="+mj-lt"/>
              <a:buAutoNum type="arabicPeriod"/>
            </a:pPr>
            <a:r>
              <a:rPr lang="en-US" sz="3000" dirty="0" err="1">
                <a:latin typeface="Arial" pitchFamily="34" charset="0"/>
                <a:cs typeface="Arial" pitchFamily="34" charset="0"/>
              </a:rPr>
              <a:t>Hrelec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C. Management of Laryngeal Dysplasia and Early Invasive Cancer.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Curr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Treat Options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Oncol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. 2021 Aug 23  ; 22 (10) : 90. </a:t>
            </a:r>
          </a:p>
          <a:p>
            <a:pPr marL="514350" lvl="0" indent="-514350" algn="just">
              <a:buClr>
                <a:srgbClr val="C00000"/>
              </a:buClr>
              <a:buFont typeface="+mj-lt"/>
              <a:buAutoNum type="arabicPeriod"/>
            </a:pPr>
            <a:r>
              <a:rPr lang="en-US" sz="3000" dirty="0" err="1">
                <a:latin typeface="Arial" pitchFamily="34" charset="0"/>
                <a:cs typeface="Arial" pitchFamily="34" charset="0"/>
              </a:rPr>
              <a:t>Mannelli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G,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Cecconi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L, Gallo O. Laryngeal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preneoplastic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lesions and cancer: challenging diagnosis. Qualitative literature review and meta-analysis.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Crit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Rev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OncolHematol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. 2016 Oct ; 106 : 64-90. </a:t>
            </a:r>
          </a:p>
          <a:p>
            <a:pPr marL="514350" lvl="0" indent="-514350" algn="just">
              <a:buClr>
                <a:srgbClr val="C00000"/>
              </a:buClr>
              <a:buFont typeface="+mj-lt"/>
              <a:buAutoNum type="arabicPeriod"/>
            </a:pPr>
            <a:r>
              <a:rPr lang="en-US" sz="3000" dirty="0" err="1">
                <a:latin typeface="Arial" pitchFamily="34" charset="0"/>
                <a:cs typeface="Arial" pitchFamily="34" charset="0"/>
              </a:rPr>
              <a:t>Naunheim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MR, Carroll TL. Benign vocal fold lesions: update on nomenclature, cause, diagnosis, and treatment.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CurrOpinOtolaryngol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Head Neck Surg. 2017 Dec ; 25 (6) : 453-458.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5614" y="4648200"/>
            <a:ext cx="6553200" cy="725436"/>
          </a:xfrm>
          <a:prstGeom prst="rect">
            <a:avLst/>
          </a:prstGeom>
          <a:noFill/>
        </p:spPr>
        <p:txBody>
          <a:bodyPr wrap="square" lIns="108819" tIns="54410" rIns="108819" bIns="54410">
            <a:spAutoFit/>
          </a:bodyPr>
          <a:lstStyle/>
          <a:p>
            <a:pPr algn="ctr">
              <a:buFont typeface="Arial" pitchFamily="34" charset="0"/>
              <a:buChar char="•"/>
            </a:pP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Thank</a:t>
            </a:r>
          </a:p>
          <a:p>
            <a:pPr algn="ctr">
              <a:buFont typeface="Arial" pitchFamily="34" charset="0"/>
              <a:buChar char="•"/>
            </a:pPr>
            <a:r>
              <a:rPr lang="en-US" sz="20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You</a:t>
            </a:r>
          </a:p>
        </p:txBody>
      </p:sp>
      <p:pic>
        <p:nvPicPr>
          <p:cNvPr id="3" name="Picture 2" descr="Thank You Alphabet Letter with Space Copy on Blue Glitter Background Stock  Photo - Image of alphabet, english: 158148796">
            <a:extLst>
              <a:ext uri="{FF2B5EF4-FFF2-40B4-BE49-F238E27FC236}">
                <a16:creationId xmlns:a16="http://schemas.microsoft.com/office/drawing/2014/main" id="{00EEED78-660A-39FD-36B8-D23C4E94F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40"/>
          <a:stretch>
            <a:fillRect/>
          </a:stretch>
        </p:blipFill>
        <p:spPr bwMode="auto">
          <a:xfrm>
            <a:off x="3" y="-152399"/>
            <a:ext cx="12190412" cy="685800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dissolv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1239</TotalTime>
  <Words>680</Words>
  <Application>Microsoft Office PowerPoint</Application>
  <PresentationFormat>Custom</PresentationFormat>
  <Paragraphs>99</Paragraphs>
  <Slides>18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Flow</vt:lpstr>
      <vt:lpstr>“STRATEGIC IMPLEMENTATION OF ARTIFICIAL INTELLIGENCE IN DIAGNOSING LARYNGEAL DISEASE”</vt:lpstr>
      <vt:lpstr>PowerPoint Presentation</vt:lpstr>
      <vt:lpstr>INTRODUCTION</vt:lpstr>
      <vt:lpstr>PowerPoint Presentation</vt:lpstr>
      <vt:lpstr>AIM  &amp; OBJECTIVES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GENETIC AND BIOCHEMICAL PROGNOSTICATION OF PATIENTS SUFFERING WITH SEVERE TRAUMATIC BRAIN INJURY</dc:title>
  <dc:creator>ajay</dc:creator>
  <cp:lastModifiedBy>cneha620@gmail.com</cp:lastModifiedBy>
  <cp:revision>179</cp:revision>
  <dcterms:created xsi:type="dcterms:W3CDTF">2022-06-02T08:07:24Z</dcterms:created>
  <dcterms:modified xsi:type="dcterms:W3CDTF">2024-06-12T19:09:56Z</dcterms:modified>
</cp:coreProperties>
</file>